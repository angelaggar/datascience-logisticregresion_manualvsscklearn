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erchi Serif Bold" charset="1" panose="02000503060000020004"/>
      <p:regular r:id="rId25"/>
    </p:embeddedFont>
    <p:embeddedFont>
      <p:font typeface="Roboto" charset="1" panose="02000000000000000000"/>
      <p:regular r:id="rId26"/>
    </p:embeddedFont>
    <p:embeddedFont>
      <p:font typeface="Roboto Bold" charset="1" panose="02000000000000000000"/>
      <p:regular r:id="rId27"/>
    </p:embeddedFont>
    <p:embeddedFont>
      <p:font typeface="Chau Philomene" charset="1" panose="02000806040000020003"/>
      <p:regular r:id="rId28"/>
    </p:embeddedFont>
    <p:embeddedFont>
      <p:font typeface="Monterchi Serif" charset="1" panose="02000503060000020004"/>
      <p:regular r:id="rId29"/>
    </p:embeddedFont>
    <p:embeddedFont>
      <p:font typeface="Roboto Italics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svg" Type="http://schemas.openxmlformats.org/officeDocument/2006/relationships/image"/><Relationship Id="rId22" Target="../media/image49.png" Type="http://schemas.openxmlformats.org/officeDocument/2006/relationships/image"/><Relationship Id="rId23" Target="../media/image50.sv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26" Target="../media/image53.png" Type="http://schemas.openxmlformats.org/officeDocument/2006/relationships/image"/><Relationship Id="rId27" Target="../media/image54.svg" Type="http://schemas.openxmlformats.org/officeDocument/2006/relationships/image"/><Relationship Id="rId28" Target="../media/image55.png" Type="http://schemas.openxmlformats.org/officeDocument/2006/relationships/image"/><Relationship Id="rId29" Target="../media/image56.svg" Type="http://schemas.openxmlformats.org/officeDocument/2006/relationships/image"/><Relationship Id="rId3" Target="../media/image30.svg" Type="http://schemas.openxmlformats.org/officeDocument/2006/relationships/image"/><Relationship Id="rId30" Target="../media/image57.png" Type="http://schemas.openxmlformats.org/officeDocument/2006/relationships/image"/><Relationship Id="rId31" Target="../media/image58.svg" Type="http://schemas.openxmlformats.org/officeDocument/2006/relationships/image"/><Relationship Id="rId32" Target="../media/image59.png" Type="http://schemas.openxmlformats.org/officeDocument/2006/relationships/image"/><Relationship Id="rId33" Target="../media/image60.svg" Type="http://schemas.openxmlformats.org/officeDocument/2006/relationships/image"/><Relationship Id="rId34" Target="../media/image61.png" Type="http://schemas.openxmlformats.org/officeDocument/2006/relationships/image"/><Relationship Id="rId35" Target="../media/image62.svg" Type="http://schemas.openxmlformats.org/officeDocument/2006/relationships/image"/><Relationship Id="rId36" Target="../media/image63.png" Type="http://schemas.openxmlformats.org/officeDocument/2006/relationships/image"/><Relationship Id="rId37" Target="../media/image64.svg" Type="http://schemas.openxmlformats.org/officeDocument/2006/relationships/image"/><Relationship Id="rId38" Target="../media/image65.png" Type="http://schemas.openxmlformats.org/officeDocument/2006/relationships/image"/><Relationship Id="rId39" Target="../media/image66.svg" Type="http://schemas.openxmlformats.org/officeDocument/2006/relationships/image"/><Relationship Id="rId4" Target="../media/image31.png" Type="http://schemas.openxmlformats.org/officeDocument/2006/relationships/image"/><Relationship Id="rId40" Target="../media/image67.png" Type="http://schemas.openxmlformats.org/officeDocument/2006/relationships/image"/><Relationship Id="rId41" Target="../media/image68.svg" Type="http://schemas.openxmlformats.org/officeDocument/2006/relationships/image"/><Relationship Id="rId42" Target="../media/image69.png" Type="http://schemas.openxmlformats.org/officeDocument/2006/relationships/image"/><Relationship Id="rId43" Target="../media/image70.svg" Type="http://schemas.openxmlformats.org/officeDocument/2006/relationships/image"/><Relationship Id="rId44" Target="../media/image71.png" Type="http://schemas.openxmlformats.org/officeDocument/2006/relationships/image"/><Relationship Id="rId45" Target="../media/image72.svg" Type="http://schemas.openxmlformats.org/officeDocument/2006/relationships/image"/><Relationship Id="rId46" Target="../media/image73.png" Type="http://schemas.openxmlformats.org/officeDocument/2006/relationships/image"/><Relationship Id="rId47" Target="../media/image74.sv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8973" y="3376762"/>
            <a:ext cx="12965683" cy="151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8"/>
              </a:lnSpc>
            </a:pPr>
            <a:r>
              <a:rPr lang="en-US" b="true" sz="12458" spc="398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MODELO 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134" y="4674017"/>
            <a:ext cx="17709733" cy="123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2"/>
              </a:lnSpc>
            </a:pPr>
            <a:r>
              <a:rPr lang="en-US" b="true" sz="10059" spc="321">
                <a:solidFill>
                  <a:srgbClr val="6C9286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REGRESIÓN LOGÍSTICA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-10800000">
            <a:off x="6388878" y="8928906"/>
            <a:ext cx="5605872" cy="235776"/>
            <a:chOff x="0" y="0"/>
            <a:chExt cx="1476444" cy="620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10800000">
            <a:off x="7317640" y="8504598"/>
            <a:ext cx="3748348" cy="235776"/>
            <a:chOff x="0" y="0"/>
            <a:chExt cx="987219" cy="620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4641735" y="1361202"/>
            <a:ext cx="998003" cy="1215215"/>
          </a:xfrm>
          <a:custGeom>
            <a:avLst/>
            <a:gdLst/>
            <a:ahLst/>
            <a:cxnLst/>
            <a:rect r="r" b="b" t="t" l="l"/>
            <a:pathLst>
              <a:path h="1215215" w="998003">
                <a:moveTo>
                  <a:pt x="0" y="0"/>
                </a:moveTo>
                <a:lnTo>
                  <a:pt x="998003" y="0"/>
                </a:lnTo>
                <a:lnTo>
                  <a:pt x="998003" y="1215215"/>
                </a:lnTo>
                <a:lnTo>
                  <a:pt x="0" y="1215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558461" y="1541972"/>
            <a:ext cx="1046760" cy="1034445"/>
          </a:xfrm>
          <a:custGeom>
            <a:avLst/>
            <a:gdLst/>
            <a:ahLst/>
            <a:cxnLst/>
            <a:rect r="r" b="b" t="t" l="l"/>
            <a:pathLst>
              <a:path h="1034445" w="1046760">
                <a:moveTo>
                  <a:pt x="0" y="0"/>
                </a:moveTo>
                <a:lnTo>
                  <a:pt x="1046760" y="0"/>
                </a:lnTo>
                <a:lnTo>
                  <a:pt x="1046760" y="1034445"/>
                </a:lnTo>
                <a:lnTo>
                  <a:pt x="0" y="1034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5140736" y="6583255"/>
            <a:ext cx="8102157" cy="9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1"/>
              </a:lnSpc>
              <a:spcBef>
                <a:spcPct val="0"/>
              </a:spcBef>
            </a:pPr>
            <a:r>
              <a:rPr lang="en-US" b="true" sz="7484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Programación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17114" y="6654470"/>
            <a:ext cx="3199671" cy="84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439" spc="-9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Autora:</a:t>
            </a:r>
          </a:p>
          <a:p>
            <a:pPr algn="ctr">
              <a:lnSpc>
                <a:spcPts val="3341"/>
              </a:lnSpc>
            </a:pPr>
            <a:r>
              <a:rPr lang="en-US" sz="2439" spc="-9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Angela García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811352" y="6654470"/>
            <a:ext cx="3053378" cy="84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439" spc="-9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Tutor:</a:t>
            </a:r>
          </a:p>
          <a:p>
            <a:pPr algn="ctr">
              <a:lnSpc>
                <a:spcPts val="3341"/>
              </a:lnSpc>
            </a:pPr>
            <a:r>
              <a:rPr lang="en-US" sz="2439" spc="-9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Niels Martínez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819596" y="1854159"/>
            <a:ext cx="6648808" cy="73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  <a:spcBef>
                <a:spcPct val="0"/>
              </a:spcBef>
            </a:pPr>
            <a:r>
              <a:rPr lang="en-US" b="true" sz="2300">
                <a:solidFill>
                  <a:srgbClr val="365B6D"/>
                </a:solidFill>
                <a:latin typeface="Roboto Bold"/>
                <a:ea typeface="Roboto Bold"/>
                <a:cs typeface="Roboto Bold"/>
                <a:sym typeface="Roboto Bold"/>
              </a:rPr>
              <a:t>Universidad Autónoma de Coahuila</a:t>
            </a:r>
          </a:p>
          <a:p>
            <a:pPr algn="ctr">
              <a:lnSpc>
                <a:spcPts val="2921"/>
              </a:lnSpc>
              <a:spcBef>
                <a:spcPct val="0"/>
              </a:spcBef>
            </a:pPr>
            <a:r>
              <a:rPr lang="en-US" b="true" sz="2300">
                <a:solidFill>
                  <a:srgbClr val="365B6D"/>
                </a:solidFill>
                <a:latin typeface="Roboto Bold"/>
                <a:ea typeface="Roboto Bold"/>
                <a:cs typeface="Roboto Bold"/>
                <a:sym typeface="Roboto Bold"/>
              </a:rPr>
              <a:t>Centro de Investigación en Matemáticas Aplicadas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8951" y="3017946"/>
            <a:ext cx="7631180" cy="510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7087" indent="-413543" lvl="1">
              <a:lnSpc>
                <a:spcPts val="6780"/>
              </a:lnSpc>
              <a:buAutoNum type="arabicPeriod" startAt="1"/>
            </a:pPr>
            <a:r>
              <a:rPr lang="en-US" sz="383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Introducción</a:t>
            </a:r>
          </a:p>
          <a:p>
            <a:pPr algn="l" marL="827087" indent="-413543" lvl="1">
              <a:lnSpc>
                <a:spcPts val="6780"/>
              </a:lnSpc>
              <a:buAutoNum type="arabicPeriod" startAt="1"/>
            </a:pPr>
            <a:r>
              <a:rPr lang="en-US" sz="383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Algoritmo</a:t>
            </a:r>
          </a:p>
          <a:p>
            <a:pPr algn="l" marL="827087" indent="-413543" lvl="1">
              <a:lnSpc>
                <a:spcPts val="6780"/>
              </a:lnSpc>
              <a:buAutoNum type="arabicPeriod" startAt="1"/>
            </a:pPr>
            <a:r>
              <a:rPr lang="en-US" sz="383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Modelo manual</a:t>
            </a:r>
          </a:p>
          <a:p>
            <a:pPr algn="l" marL="827087" indent="-413543" lvl="1">
              <a:lnSpc>
                <a:spcPts val="6780"/>
              </a:lnSpc>
              <a:buAutoNum type="arabicPeriod" startAt="1"/>
            </a:pPr>
            <a:r>
              <a:rPr lang="en-US" sz="383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Evaluación</a:t>
            </a:r>
          </a:p>
          <a:p>
            <a:pPr algn="l" marL="827087" indent="-413543" lvl="1">
              <a:lnSpc>
                <a:spcPts val="6780"/>
              </a:lnSpc>
              <a:buAutoNum type="arabicPeriod" startAt="1"/>
            </a:pPr>
            <a:r>
              <a:rPr lang="en-US" sz="383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Resultados de Comparación</a:t>
            </a:r>
          </a:p>
          <a:p>
            <a:pPr algn="l" marL="863599" indent="-431800" lvl="1">
              <a:lnSpc>
                <a:spcPts val="7079"/>
              </a:lnSpc>
              <a:buAutoNum type="arabicPeriod" startAt="1"/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28410" y="1847805"/>
            <a:ext cx="7271720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ÍNDICE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-206005" y="835928"/>
            <a:ext cx="3748348" cy="235776"/>
            <a:chOff x="0" y="0"/>
            <a:chExt cx="987219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4572655" y="8364469"/>
            <a:ext cx="3748348" cy="235776"/>
            <a:chOff x="0" y="0"/>
            <a:chExt cx="987219" cy="62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218303" y="1756286"/>
            <a:ext cx="3748348" cy="235776"/>
            <a:chOff x="0" y="0"/>
            <a:chExt cx="987219" cy="62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996963" y="9284827"/>
            <a:ext cx="3748348" cy="235776"/>
            <a:chOff x="0" y="0"/>
            <a:chExt cx="987219" cy="620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3321" y="1767118"/>
            <a:ext cx="6384679" cy="7074276"/>
            <a:chOff x="0" y="0"/>
            <a:chExt cx="8512905" cy="943236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870" r="41646" b="4743"/>
            <a:stretch>
              <a:fillRect/>
            </a:stretch>
          </p:blipFill>
          <p:spPr>
            <a:xfrm flipH="false" flipV="false">
              <a:off x="0" y="0"/>
              <a:ext cx="8512905" cy="9432368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5150722" y="1234804"/>
            <a:ext cx="3748348" cy="235776"/>
            <a:chOff x="0" y="0"/>
            <a:chExt cx="987219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93855" y="8695865"/>
            <a:ext cx="3748348" cy="235776"/>
            <a:chOff x="0" y="0"/>
            <a:chExt cx="987219" cy="62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30364" y="1659112"/>
            <a:ext cx="3748348" cy="235776"/>
            <a:chOff x="0" y="0"/>
            <a:chExt cx="987219" cy="62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73497" y="9120174"/>
            <a:ext cx="3748348" cy="235776"/>
            <a:chOff x="0" y="0"/>
            <a:chExt cx="987219" cy="620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50281" y="1847805"/>
            <a:ext cx="929113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INTRODUCCIÓN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0281" y="3136524"/>
            <a:ext cx="8899143" cy="274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  <a:spcBef>
                <a:spcPct val="0"/>
              </a:spcBef>
            </a:pPr>
            <a:r>
              <a:rPr lang="en-US" sz="310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La regresión logística es un método que modela la probabilidad de pertenecer a una de dos clases. A diferencia de la regresión lineal, produce probabilidades que permiten asignar cada caso a la clase más probable.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4643" y="2489524"/>
            <a:ext cx="3014932" cy="50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8"/>
              </a:lnSpc>
              <a:spcBef>
                <a:spcPct val="0"/>
              </a:spcBef>
            </a:pPr>
            <a:r>
              <a:rPr lang="en-US" b="true" sz="4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Descripción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7859" y="2489524"/>
            <a:ext cx="3014932" cy="50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8"/>
              </a:lnSpc>
              <a:spcBef>
                <a:spcPct val="0"/>
              </a:spcBef>
            </a:pPr>
            <a:r>
              <a:rPr lang="en-US" b="true" sz="4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Fórmulas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84643" y="2997722"/>
            <a:ext cx="3447749" cy="235776"/>
            <a:chOff x="0" y="0"/>
            <a:chExt cx="908049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7859" y="2997722"/>
            <a:ext cx="3447749" cy="235776"/>
            <a:chOff x="0" y="0"/>
            <a:chExt cx="908049" cy="62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2392" y="2997722"/>
            <a:ext cx="3447749" cy="235776"/>
            <a:chOff x="0" y="0"/>
            <a:chExt cx="908049" cy="62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55608" y="2997722"/>
            <a:ext cx="3447749" cy="235776"/>
            <a:chOff x="0" y="0"/>
            <a:chExt cx="908049" cy="620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26909" y="3497113"/>
            <a:ext cx="6810246" cy="460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Sigmoide: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Z-Value: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Log-loss: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Lambda Regulurizada: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699968" y="3532158"/>
            <a:ext cx="2004809" cy="876051"/>
          </a:xfrm>
          <a:custGeom>
            <a:avLst/>
            <a:gdLst/>
            <a:ahLst/>
            <a:cxnLst/>
            <a:rect r="r" b="b" t="t" l="l"/>
            <a:pathLst>
              <a:path h="876051" w="2004809">
                <a:moveTo>
                  <a:pt x="0" y="0"/>
                </a:moveTo>
                <a:lnTo>
                  <a:pt x="2004810" y="0"/>
                </a:lnTo>
                <a:lnTo>
                  <a:pt x="2004810" y="876051"/>
                </a:lnTo>
                <a:lnTo>
                  <a:pt x="0" y="876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1699968" y="4781376"/>
            <a:ext cx="2073044" cy="909753"/>
          </a:xfrm>
          <a:custGeom>
            <a:avLst/>
            <a:gdLst/>
            <a:ahLst/>
            <a:cxnLst/>
            <a:rect r="r" b="b" t="t" l="l"/>
            <a:pathLst>
              <a:path h="909753" w="2073044">
                <a:moveTo>
                  <a:pt x="0" y="0"/>
                </a:moveTo>
                <a:lnTo>
                  <a:pt x="2073045" y="0"/>
                </a:lnTo>
                <a:lnTo>
                  <a:pt x="2073045" y="909753"/>
                </a:lnTo>
                <a:lnTo>
                  <a:pt x="0" y="90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1699968" y="8262326"/>
            <a:ext cx="2758287" cy="984178"/>
          </a:xfrm>
          <a:custGeom>
            <a:avLst/>
            <a:gdLst/>
            <a:ahLst/>
            <a:cxnLst/>
            <a:rect r="r" b="b" t="t" l="l"/>
            <a:pathLst>
              <a:path h="984178" w="2758287">
                <a:moveTo>
                  <a:pt x="0" y="0"/>
                </a:moveTo>
                <a:lnTo>
                  <a:pt x="2758288" y="0"/>
                </a:lnTo>
                <a:lnTo>
                  <a:pt x="2758288" y="984177"/>
                </a:lnTo>
                <a:lnTo>
                  <a:pt x="0" y="984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1699968" y="6062604"/>
            <a:ext cx="5823907" cy="1080891"/>
          </a:xfrm>
          <a:custGeom>
            <a:avLst/>
            <a:gdLst/>
            <a:ahLst/>
            <a:cxnLst/>
            <a:rect r="r" b="b" t="t" l="l"/>
            <a:pathLst>
              <a:path h="1080891" w="5823907">
                <a:moveTo>
                  <a:pt x="0" y="0"/>
                </a:moveTo>
                <a:lnTo>
                  <a:pt x="5823907" y="0"/>
                </a:lnTo>
                <a:lnTo>
                  <a:pt x="5823907" y="1080891"/>
                </a:lnTo>
                <a:lnTo>
                  <a:pt x="0" y="1080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484643" y="3527094"/>
            <a:ext cx="6895498" cy="522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La probabilidad de un evento se obtiene con una función sigmoide. Primero se calcula una combinación lineal de las variables y, al aplicar la sigmoide a ese resultado, se obtiene la probabilidad de la clase positiva.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6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 estimación de parámetros se hace minimizando la pérdida logística (log‑loss). Y para prevenir el sobreajuste y limitar coeficientes muy grandes, se usa regularización (lambda).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4643" y="1238250"/>
            <a:ext cx="929113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ALGORITMO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4643" y="1609289"/>
            <a:ext cx="3014932" cy="50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8"/>
              </a:lnSpc>
              <a:spcBef>
                <a:spcPct val="0"/>
              </a:spcBef>
            </a:pPr>
            <a:r>
              <a:rPr lang="en-US" b="true" sz="4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Descripción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7859" y="1609289"/>
            <a:ext cx="3014932" cy="50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8"/>
              </a:lnSpc>
              <a:spcBef>
                <a:spcPct val="0"/>
              </a:spcBef>
            </a:pPr>
            <a:r>
              <a:rPr lang="en-US" b="true" sz="4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Fórmulas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84643" y="2117487"/>
            <a:ext cx="3447749" cy="235776"/>
            <a:chOff x="0" y="0"/>
            <a:chExt cx="908049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7859" y="2117487"/>
            <a:ext cx="3447749" cy="235776"/>
            <a:chOff x="0" y="0"/>
            <a:chExt cx="908049" cy="62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2392" y="2117487"/>
            <a:ext cx="3447749" cy="235776"/>
            <a:chOff x="0" y="0"/>
            <a:chExt cx="908049" cy="62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55608" y="2117487"/>
            <a:ext cx="3447749" cy="235776"/>
            <a:chOff x="0" y="0"/>
            <a:chExt cx="908049" cy="620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8049" cy="62097"/>
            </a:xfrm>
            <a:custGeom>
              <a:avLst/>
              <a:gdLst/>
              <a:ahLst/>
              <a:cxnLst/>
              <a:rect r="r" b="b" t="t" l="l"/>
              <a:pathLst>
                <a:path h="62097" w="908049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26909" y="2616878"/>
            <a:ext cx="6810246" cy="544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Gradiente de intercepto: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Gradiente de predictores: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Normalización: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Penalización: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035965" y="4790994"/>
            <a:ext cx="4093772" cy="1037858"/>
          </a:xfrm>
          <a:custGeom>
            <a:avLst/>
            <a:gdLst/>
            <a:ahLst/>
            <a:cxnLst/>
            <a:rect r="r" b="b" t="t" l="l"/>
            <a:pathLst>
              <a:path h="1037858" w="4093772">
                <a:moveTo>
                  <a:pt x="0" y="0"/>
                </a:moveTo>
                <a:lnTo>
                  <a:pt x="4093771" y="0"/>
                </a:lnTo>
                <a:lnTo>
                  <a:pt x="4093771" y="1037857"/>
                </a:lnTo>
                <a:lnTo>
                  <a:pt x="0" y="1037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2" t="-14797" r="-1317" b="-1442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035965" y="3103696"/>
            <a:ext cx="3721194" cy="1094469"/>
          </a:xfrm>
          <a:custGeom>
            <a:avLst/>
            <a:gdLst/>
            <a:ahLst/>
            <a:cxnLst/>
            <a:rect r="r" b="b" t="t" l="l"/>
            <a:pathLst>
              <a:path h="1094469" w="3721194">
                <a:moveTo>
                  <a:pt x="0" y="0"/>
                </a:moveTo>
                <a:lnTo>
                  <a:pt x="3721194" y="0"/>
                </a:lnTo>
                <a:lnTo>
                  <a:pt x="3721194" y="1094469"/>
                </a:lnTo>
                <a:lnTo>
                  <a:pt x="0" y="109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035965" y="6424611"/>
            <a:ext cx="2083348" cy="1068384"/>
          </a:xfrm>
          <a:custGeom>
            <a:avLst/>
            <a:gdLst/>
            <a:ahLst/>
            <a:cxnLst/>
            <a:rect r="r" b="b" t="t" l="l"/>
            <a:pathLst>
              <a:path h="1068384" w="2083348">
                <a:moveTo>
                  <a:pt x="0" y="0"/>
                </a:moveTo>
                <a:lnTo>
                  <a:pt x="2083347" y="0"/>
                </a:lnTo>
                <a:lnTo>
                  <a:pt x="2083347" y="1068384"/>
                </a:lnTo>
                <a:lnTo>
                  <a:pt x="0" y="1068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39" t="-7875" r="-3435" b="-1267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035965" y="8136274"/>
            <a:ext cx="3510585" cy="1122026"/>
          </a:xfrm>
          <a:custGeom>
            <a:avLst/>
            <a:gdLst/>
            <a:ahLst/>
            <a:cxnLst/>
            <a:rect r="r" b="b" t="t" l="l"/>
            <a:pathLst>
              <a:path h="1122026" w="3510585">
                <a:moveTo>
                  <a:pt x="0" y="0"/>
                </a:moveTo>
                <a:lnTo>
                  <a:pt x="3510584" y="0"/>
                </a:lnTo>
                <a:lnTo>
                  <a:pt x="3510584" y="1122026"/>
                </a:lnTo>
                <a:lnTo>
                  <a:pt x="0" y="1122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718" r="0" b="-1734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484643" y="2627809"/>
            <a:ext cx="6895498" cy="55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Los parámetros se optimizan con gradiente descendente y una tasa de aprendizaje establecida. 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Ant</a:t>
            </a:r>
            <a:r>
              <a:rPr lang="en-US" sz="3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es del entrenamiento, se normalizan las variables predictoras; cuando existen clases desbalanceadas, se usan pesos compensatorios por clase.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2969" y="1238250"/>
            <a:ext cx="6062640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MODELO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2790" y="3635945"/>
            <a:ext cx="8371210" cy="471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Normalización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Aleatoriedad de registros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Pesos iniciales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Penalización por clase L2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Gradiente descendiente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Punto de convergencia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7730005" y="8937783"/>
            <a:ext cx="3748348" cy="235776"/>
            <a:chOff x="0" y="0"/>
            <a:chExt cx="987219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09647" y="9362091"/>
            <a:ext cx="3748348" cy="235776"/>
            <a:chOff x="0" y="0"/>
            <a:chExt cx="987219" cy="620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3712145"/>
            <a:ext cx="7655121" cy="4710844"/>
          </a:xfrm>
          <a:custGeom>
            <a:avLst/>
            <a:gdLst/>
            <a:ahLst/>
            <a:cxnLst/>
            <a:rect r="r" b="b" t="t" l="l"/>
            <a:pathLst>
              <a:path h="4710844" w="7655121">
                <a:moveTo>
                  <a:pt x="0" y="0"/>
                </a:moveTo>
                <a:lnTo>
                  <a:pt x="7655121" y="0"/>
                </a:lnTo>
                <a:lnTo>
                  <a:pt x="7655121" y="4710844"/>
                </a:lnTo>
                <a:lnTo>
                  <a:pt x="0" y="471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1993200"/>
            <a:ext cx="16230600" cy="171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Se implementó un modelo en Pythoncon el uso del Breast Cancer Wisconsin Dataset para distinguir entre tumores malignos y benignos.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30005" y="8937783"/>
            <a:ext cx="3748348" cy="235776"/>
            <a:chOff x="0" y="0"/>
            <a:chExt cx="987219" cy="62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09647" y="9362091"/>
            <a:ext cx="3748348" cy="235776"/>
            <a:chOff x="0" y="0"/>
            <a:chExt cx="987219" cy="62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04806" y="1474672"/>
            <a:ext cx="13158030" cy="8569167"/>
          </a:xfrm>
          <a:custGeom>
            <a:avLst/>
            <a:gdLst/>
            <a:ahLst/>
            <a:cxnLst/>
            <a:rect r="r" b="b" t="t" l="l"/>
            <a:pathLst>
              <a:path h="8569167" w="13158030">
                <a:moveTo>
                  <a:pt x="0" y="0"/>
                </a:moveTo>
                <a:lnTo>
                  <a:pt x="13158030" y="0"/>
                </a:lnTo>
                <a:lnTo>
                  <a:pt x="13158030" y="8569167"/>
                </a:lnTo>
                <a:lnTo>
                  <a:pt x="0" y="856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232969" y="781050"/>
            <a:ext cx="6062640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MODELO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62064"/>
            <a:ext cx="6895498" cy="235776"/>
            <a:chOff x="0" y="0"/>
            <a:chExt cx="9193998" cy="31436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596999" cy="314368"/>
              <a:chOff x="0" y="0"/>
              <a:chExt cx="908049" cy="6209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8572612" y="5244464"/>
            <a:ext cx="6895498" cy="235776"/>
            <a:chOff x="0" y="0"/>
            <a:chExt cx="9193998" cy="31436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596999" cy="314368"/>
              <a:chOff x="0" y="0"/>
              <a:chExt cx="908049" cy="620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035563" y="9258300"/>
            <a:ext cx="6895498" cy="235776"/>
            <a:chOff x="0" y="0"/>
            <a:chExt cx="9193998" cy="31436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596999" cy="314368"/>
              <a:chOff x="0" y="0"/>
              <a:chExt cx="908049" cy="62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08049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8049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aphicFrame>
        <p:nvGraphicFramePr>
          <p:cNvPr name="Object 23" id="23"/>
          <p:cNvGraphicFramePr/>
          <p:nvPr/>
        </p:nvGraphicFramePr>
        <p:xfrm>
          <a:off x="820848" y="3440765"/>
          <a:ext cx="13201650" cy="3143250"/>
        </p:xfrm>
        <a:graphic>
          <a:graphicData uri="http://schemas.openxmlformats.org/presentationml/2006/ole">
            <p:oleObj imgW="15836900" imgH="5778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035563" y="2053971"/>
            <a:ext cx="64291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Comparación 500 vs 1000 Iteraciones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095375"/>
            <a:ext cx="7278940" cy="102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200" b="true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EVALUACIÓN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37631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298406" y="2337631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50281" y="1454092"/>
            <a:ext cx="929113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EVALUACIÓN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8864" y="2996394"/>
            <a:ext cx="4845004" cy="49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b="true" sz="4000">
                <a:solidFill>
                  <a:srgbClr val="F2F1EC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Métodos empleados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743" y="2774510"/>
            <a:ext cx="259750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Entrenamiento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44762" y="2193485"/>
            <a:ext cx="2798754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Exactitud Entrenamiento</a:t>
            </a:r>
          </a:p>
        </p:txBody>
      </p:sp>
      <p:sp>
        <p:nvSpPr>
          <p:cNvPr name="AutoShape 4" id="4"/>
          <p:cNvSpPr/>
          <p:nvPr/>
        </p:nvSpPr>
        <p:spPr>
          <a:xfrm>
            <a:off x="-155958" y="3500491"/>
            <a:ext cx="18824318" cy="0"/>
          </a:xfrm>
          <a:prstGeom prst="line">
            <a:avLst/>
          </a:prstGeom>
          <a:ln cap="flat" w="38100">
            <a:solidFill>
              <a:srgbClr val="365B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7954" y="3382603"/>
            <a:ext cx="2801543" cy="235776"/>
            <a:chOff x="0" y="0"/>
            <a:chExt cx="3735390" cy="31436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4350773" y="3382603"/>
            <a:ext cx="2801543" cy="235776"/>
            <a:chOff x="0" y="0"/>
            <a:chExt cx="3735390" cy="3143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7743592" y="3382603"/>
            <a:ext cx="2801543" cy="235776"/>
            <a:chOff x="0" y="0"/>
            <a:chExt cx="3735390" cy="31436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11139199" y="2774510"/>
            <a:ext cx="227087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Iteraciones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28503" y="2193485"/>
            <a:ext cx="2270877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Tiempo de Ejecución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136411" y="3382603"/>
            <a:ext cx="2801543" cy="235776"/>
            <a:chOff x="0" y="0"/>
            <a:chExt cx="3735390" cy="31436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4528503" y="3382603"/>
            <a:ext cx="2801543" cy="235776"/>
            <a:chOff x="0" y="0"/>
            <a:chExt cx="3735390" cy="31436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1550281" y="1454092"/>
            <a:ext cx="929113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RESULTADOS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43592" y="2235395"/>
            <a:ext cx="2798754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Exactitud Prueba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519" y="4314190"/>
            <a:ext cx="427994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Primer entrenamieto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Ultimo entrenamiento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12964" y="4314190"/>
            <a:ext cx="427994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93.98%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96.74%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7004388" y="4314190"/>
            <a:ext cx="427994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92.40%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94.15%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397207" y="4314190"/>
            <a:ext cx="427994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500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1000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3523967" y="4314190"/>
            <a:ext cx="427994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59.2 s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122.25 s</a:t>
            </a:r>
          </a:p>
          <a:p>
            <a:pPr algn="ctr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42292" y="4036010"/>
            <a:ext cx="831035" cy="828014"/>
          </a:xfrm>
          <a:custGeom>
            <a:avLst/>
            <a:gdLst/>
            <a:ahLst/>
            <a:cxnLst/>
            <a:rect r="r" b="b" t="t" l="l"/>
            <a:pathLst>
              <a:path h="828014" w="831035">
                <a:moveTo>
                  <a:pt x="0" y="0"/>
                </a:moveTo>
                <a:lnTo>
                  <a:pt x="831035" y="0"/>
                </a:lnTo>
                <a:lnTo>
                  <a:pt x="831035" y="828014"/>
                </a:lnTo>
                <a:lnTo>
                  <a:pt x="0" y="82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33777" y="4036010"/>
            <a:ext cx="820447" cy="789121"/>
          </a:xfrm>
          <a:custGeom>
            <a:avLst/>
            <a:gdLst/>
            <a:ahLst/>
            <a:cxnLst/>
            <a:rect r="r" b="b" t="t" l="l"/>
            <a:pathLst>
              <a:path h="789121" w="820447">
                <a:moveTo>
                  <a:pt x="0" y="0"/>
                </a:moveTo>
                <a:lnTo>
                  <a:pt x="820446" y="0"/>
                </a:lnTo>
                <a:lnTo>
                  <a:pt x="820446" y="789121"/>
                </a:lnTo>
                <a:lnTo>
                  <a:pt x="0" y="7891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103399" y="4036010"/>
            <a:ext cx="653583" cy="832108"/>
          </a:xfrm>
          <a:custGeom>
            <a:avLst/>
            <a:gdLst/>
            <a:ahLst/>
            <a:cxnLst/>
            <a:rect r="r" b="b" t="t" l="l"/>
            <a:pathLst>
              <a:path h="832108" w="653583">
                <a:moveTo>
                  <a:pt x="0" y="0"/>
                </a:moveTo>
                <a:lnTo>
                  <a:pt x="653583" y="0"/>
                </a:lnTo>
                <a:lnTo>
                  <a:pt x="653583" y="832108"/>
                </a:lnTo>
                <a:lnTo>
                  <a:pt x="0" y="83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4740" y="3226008"/>
            <a:ext cx="13518520" cy="639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esarrollar la regresión logística desde cero permitió examinar con detalle: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Cómo aprende el modelo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Cómo influye la regularización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Por qué importa la normalización</a:t>
            </a:r>
          </a:p>
          <a:p>
            <a:pPr algn="l">
              <a:lnSpc>
                <a:spcPts val="5319"/>
              </a:lnSpc>
            </a:pP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La curva sigmoide facilitó: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Entender el umbral 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Analizar los errores en zonas límite</a:t>
            </a:r>
          </a:p>
          <a:p>
            <a:pPr algn="ctr">
              <a:lnSpc>
                <a:spcPts val="3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8591" y="1552893"/>
            <a:ext cx="16160709" cy="102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2"/>
              </a:lnSpc>
            </a:pPr>
            <a:r>
              <a:rPr lang="en-US" b="true" sz="7200" spc="-187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CONCLUSIONES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119" y="0"/>
            <a:ext cx="8445813" cy="10287000"/>
          </a:xfrm>
          <a:custGeom>
            <a:avLst/>
            <a:gdLst/>
            <a:ahLst/>
            <a:cxnLst/>
            <a:rect r="r" b="b" t="t" l="l"/>
            <a:pathLst>
              <a:path h="10287000" w="8445813">
                <a:moveTo>
                  <a:pt x="0" y="0"/>
                </a:moveTo>
                <a:lnTo>
                  <a:pt x="8445813" y="0"/>
                </a:lnTo>
                <a:lnTo>
                  <a:pt x="84458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3958702"/>
            <a:ext cx="7625810" cy="21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2"/>
              </a:lnSpc>
            </a:pPr>
            <a:r>
              <a:rPr lang="en-US" sz="12458">
                <a:solidFill>
                  <a:srgbClr val="365B6D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¡GRACIAS!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4092" y="2174186"/>
            <a:ext cx="9144129" cy="5938628"/>
            <a:chOff x="0" y="0"/>
            <a:chExt cx="12192172" cy="791817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61" r="0" b="1261"/>
            <a:stretch>
              <a:fillRect/>
            </a:stretch>
          </p:blipFill>
          <p:spPr>
            <a:xfrm flipH="false" flipV="false">
              <a:off x="0" y="0"/>
              <a:ext cx="12192172" cy="7918171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355500" y="2764889"/>
            <a:ext cx="6062640" cy="10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200" spc="-187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5500" y="4352048"/>
            <a:ext cx="6062640" cy="350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Nulla dolor purus, ultricies et tristique non, convallis ac purus. Morbi ut odio eget ligula sagittis ornare. 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Etiam ac accumsan felis. Morbi ut enim tortor. Vestibulum sed magna vitae arcu blandit auctor. Morbi facilisis magna nisi. Donec id pulvinar justo.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892635" y="1028700"/>
            <a:ext cx="3748348" cy="235776"/>
            <a:chOff x="0" y="0"/>
            <a:chExt cx="987219" cy="620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89414" y="8598216"/>
            <a:ext cx="3748348" cy="235776"/>
            <a:chOff x="0" y="0"/>
            <a:chExt cx="987219" cy="620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2277" y="1453008"/>
            <a:ext cx="3748348" cy="235776"/>
            <a:chOff x="0" y="0"/>
            <a:chExt cx="987219" cy="620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69056" y="9022524"/>
            <a:ext cx="3748348" cy="235776"/>
            <a:chOff x="0" y="0"/>
            <a:chExt cx="987219" cy="620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81767" y="3296080"/>
            <a:ext cx="6561321" cy="467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u="none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Nulla dolor purus, ultricies et tristique non, convallis ac purus.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u="none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Morbi ut odio eget ligula sagittis ornare. Etiam ac accumsan felis. Morbi ut enim tortor. Vestibulum sed magna vitae arcu blandit auctor. Morbi facilisis magna nisi. Donec id pulvinar justo. 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u="none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Fusce dapibus, tellus id rhoncus gravida, diam eros fermentum felis, a feugiat risus velit sit amet turpis. Aliquam non ligula nunc.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81767" y="1971265"/>
            <a:ext cx="7007481" cy="9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b="true" sz="6399" spc="-166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3007" y="8975146"/>
            <a:ext cx="5401934" cy="28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i="true">
                <a:solidFill>
                  <a:srgbClr val="365B6D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Fuente: www.unsitiogenial.es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7647" y="778616"/>
            <a:ext cx="7874781" cy="83403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21851" y="368617"/>
            <a:ext cx="9982709" cy="905428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577579" y="7706606"/>
            <a:ext cx="3959700" cy="884405"/>
            <a:chOff x="0" y="0"/>
            <a:chExt cx="812800" cy="181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1540"/>
            </a:xfrm>
            <a:custGeom>
              <a:avLst/>
              <a:gdLst/>
              <a:ahLst/>
              <a:cxnLst/>
              <a:rect r="r" b="b" t="t" l="l"/>
              <a:pathLst>
                <a:path h="18154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1540"/>
                  </a:lnTo>
                  <a:lnTo>
                    <a:pt x="0" y="181540"/>
                  </a:lnTo>
                  <a:close/>
                </a:path>
              </a:pathLst>
            </a:custGeom>
            <a:solidFill>
              <a:srgbClr val="BBD1C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29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pc="15" strike="noStrike" u="none">
                  <a:solidFill>
                    <a:srgbClr val="365B6D"/>
                  </a:solidFill>
                  <a:latin typeface="Roboto"/>
                  <a:ea typeface="Roboto"/>
                  <a:cs typeface="Roboto"/>
                  <a:sym typeface="Roboto"/>
                </a:rPr>
                <a:t>Ver más información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52048" y="8975146"/>
            <a:ext cx="5401934" cy="28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i="true">
                <a:solidFill>
                  <a:srgbClr val="365B6D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Fuente: www.unsitiogenial.es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7579" y="3296080"/>
            <a:ext cx="5693210" cy="350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u="none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Nulla dolor purus, ultricies et tristique non, convallis ac purus.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u="none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Morbi ut odio eget ligula sagittis ornare. Etiam ac accumsan felis. Morbi ut enim tortor. Vestibulum sed magna vitae arcu blandit auctor. Morbi facilisis magna nisi. Donec id pulvinar justo.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7579" y="1971265"/>
            <a:ext cx="7007481" cy="9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b="true" sz="6399" spc="-166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DATOS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58740" y="3296480"/>
            <a:ext cx="9570521" cy="116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Vestibulum sed magna vitae arcu blandit auctor. Morbi facilisis magna nisi. Donec id pulvinar justo. Fusce dapibus, tellus id rhoncus gravida, diam eros fermentum felis, a feugiat risus velit sit amet turpis. Aliquam non ligula nunc.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58740" y="5095875"/>
            <a:ext cx="9570521" cy="233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Mauris nisl velit, convallis non tempus et, pulvinar ac sapien. 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Donec id maximus enim. Pellentesque vulputate ut lectus et mattis. Fusce aliquam ut quam sit amet imperdiet. 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Cras dictum urna eu orci molestie tristique. Proin tincidunt massa aliquet orci imperdiet vestibulum quis in ipsum.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58740" y="1916371"/>
            <a:ext cx="9570521" cy="9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3"/>
              </a:lnSpc>
            </a:pPr>
            <a:r>
              <a:rPr lang="en-US" b="true" sz="6399" spc="-166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CONCLUSIONES</a:t>
            </a: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1233" y="2430680"/>
            <a:ext cx="4179193" cy="812213"/>
            <a:chOff x="0" y="0"/>
            <a:chExt cx="1100693" cy="213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93" cy="213916"/>
            </a:xfrm>
            <a:custGeom>
              <a:avLst/>
              <a:gdLst/>
              <a:ahLst/>
              <a:cxnLst/>
              <a:rect r="r" b="b" t="t" l="l"/>
              <a:pathLst>
                <a:path h="213916" w="1100693">
                  <a:moveTo>
                    <a:pt x="0" y="0"/>
                  </a:moveTo>
                  <a:lnTo>
                    <a:pt x="1100693" y="0"/>
                  </a:lnTo>
                  <a:lnTo>
                    <a:pt x="1100693" y="213916"/>
                  </a:lnTo>
                  <a:lnTo>
                    <a:pt x="0" y="213916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00693" cy="242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8769" y="2430680"/>
            <a:ext cx="4179193" cy="812213"/>
            <a:chOff x="0" y="0"/>
            <a:chExt cx="1100693" cy="2139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693" cy="213916"/>
            </a:xfrm>
            <a:custGeom>
              <a:avLst/>
              <a:gdLst/>
              <a:ahLst/>
              <a:cxnLst/>
              <a:rect r="r" b="b" t="t" l="l"/>
              <a:pathLst>
                <a:path h="213916" w="1100693">
                  <a:moveTo>
                    <a:pt x="0" y="0"/>
                  </a:moveTo>
                  <a:lnTo>
                    <a:pt x="1100693" y="0"/>
                  </a:lnTo>
                  <a:lnTo>
                    <a:pt x="1100693" y="213916"/>
                  </a:lnTo>
                  <a:lnTo>
                    <a:pt x="0" y="213916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00693" cy="242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1207" y="1314257"/>
            <a:ext cx="15065225" cy="95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6667" spc="-173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BIBLIOGRAFÍA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1669" y="3448475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Mariña Quiroga (2018)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1669" y="5394221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Bernat Caballé (2019)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58769" y="7428392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Lola Sánchez (2019)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7676" y="7428392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Xoel Fraga (2019)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8769" y="3448475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Alba Castro (2019)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7676" y="3448475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Leire Arza (2019)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8769" y="5396922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Roser Castelló (2020)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7676" y="5396922"/>
            <a:ext cx="4198757" cy="182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u="sng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Noa Rocha (2020)</a:t>
            </a:r>
          </a:p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elit. Donec nec efficitur lacus, quis blandit turpis. Vestibulum dictum varius ipsum. Duis fermentum rutrum pulvinar.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6745" y="2751991"/>
            <a:ext cx="3730537" cy="3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b="true" sz="2600">
                <a:solidFill>
                  <a:srgbClr val="F2F1EC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Libros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14282" y="2751991"/>
            <a:ext cx="3730537" cy="3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b="true" sz="2600">
                <a:solidFill>
                  <a:srgbClr val="F2F1EC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Artículos de revistas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36305" y="2430680"/>
            <a:ext cx="4179193" cy="812213"/>
            <a:chOff x="0" y="0"/>
            <a:chExt cx="1100693" cy="2139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0693" cy="213916"/>
            </a:xfrm>
            <a:custGeom>
              <a:avLst/>
              <a:gdLst/>
              <a:ahLst/>
              <a:cxnLst/>
              <a:rect r="r" b="b" t="t" l="l"/>
              <a:pathLst>
                <a:path h="213916" w="1100693">
                  <a:moveTo>
                    <a:pt x="0" y="0"/>
                  </a:moveTo>
                  <a:lnTo>
                    <a:pt x="1100693" y="0"/>
                  </a:lnTo>
                  <a:lnTo>
                    <a:pt x="1100693" y="213916"/>
                  </a:lnTo>
                  <a:lnTo>
                    <a:pt x="0" y="213916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00693" cy="242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491818" y="2751991"/>
            <a:ext cx="3730537" cy="3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b="true" sz="2600">
                <a:solidFill>
                  <a:srgbClr val="F2F1EC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Documentos electrónicos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8973" y="4262447"/>
            <a:ext cx="12965683" cy="151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8"/>
              </a:lnSpc>
            </a:pPr>
            <a:r>
              <a:rPr lang="en-US" b="true" sz="12458" spc="398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MUCHAS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8973" y="5627347"/>
            <a:ext cx="12965683" cy="151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8"/>
              </a:lnSpc>
            </a:pPr>
            <a:r>
              <a:rPr lang="en-US" b="true" sz="12458" spc="398">
                <a:solidFill>
                  <a:srgbClr val="6C9286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41064" y="991217"/>
            <a:ext cx="5605872" cy="235776"/>
            <a:chOff x="0" y="0"/>
            <a:chExt cx="1476444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-10800000">
            <a:off x="6341064" y="8928906"/>
            <a:ext cx="5605872" cy="235776"/>
            <a:chOff x="0" y="0"/>
            <a:chExt cx="1476444" cy="620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69826" y="1415525"/>
            <a:ext cx="3748348" cy="235776"/>
            <a:chOff x="0" y="0"/>
            <a:chExt cx="987219" cy="620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10800000">
            <a:off x="7269826" y="8504598"/>
            <a:ext cx="3748348" cy="235776"/>
            <a:chOff x="0" y="0"/>
            <a:chExt cx="987219" cy="6209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919886" y="7169887"/>
            <a:ext cx="4448228" cy="4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439" spc="-9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Septiembre 2030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8849956" y="2241442"/>
            <a:ext cx="683717" cy="683717"/>
          </a:xfrm>
          <a:custGeom>
            <a:avLst/>
            <a:gdLst/>
            <a:ahLst/>
            <a:cxnLst/>
            <a:rect r="r" b="b" t="t" l="l"/>
            <a:pathLst>
              <a:path h="683717" w="683717">
                <a:moveTo>
                  <a:pt x="0" y="0"/>
                </a:moveTo>
                <a:lnTo>
                  <a:pt x="683717" y="0"/>
                </a:lnTo>
                <a:lnTo>
                  <a:pt x="683717" y="683718"/>
                </a:lnTo>
                <a:lnTo>
                  <a:pt x="0" y="683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7785636" y="3024757"/>
            <a:ext cx="2812357" cy="31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978" spc="-7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Universidad Borcelle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981696" y="2448471"/>
            <a:ext cx="420236" cy="2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834" spc="-7">
                <a:solidFill>
                  <a:srgbClr val="365B6D"/>
                </a:solidFill>
                <a:latin typeface="Roboto Bold"/>
                <a:ea typeface="Roboto Bold"/>
                <a:cs typeface="Roboto Bold"/>
                <a:sym typeface="Roboto Bold"/>
              </a:rPr>
              <a:t>B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3235" y="3433573"/>
            <a:ext cx="889760" cy="896278"/>
          </a:xfrm>
          <a:custGeom>
            <a:avLst/>
            <a:gdLst/>
            <a:ahLst/>
            <a:cxnLst/>
            <a:rect r="r" b="b" t="t" l="l"/>
            <a:pathLst>
              <a:path h="896278" w="889760">
                <a:moveTo>
                  <a:pt x="0" y="0"/>
                </a:moveTo>
                <a:lnTo>
                  <a:pt x="889760" y="0"/>
                </a:lnTo>
                <a:lnTo>
                  <a:pt x="889760" y="896278"/>
                </a:lnTo>
                <a:lnTo>
                  <a:pt x="0" y="896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70765" y="3412038"/>
            <a:ext cx="943546" cy="917813"/>
          </a:xfrm>
          <a:custGeom>
            <a:avLst/>
            <a:gdLst/>
            <a:ahLst/>
            <a:cxnLst/>
            <a:rect r="r" b="b" t="t" l="l"/>
            <a:pathLst>
              <a:path h="917813" w="943546">
                <a:moveTo>
                  <a:pt x="0" y="0"/>
                </a:moveTo>
                <a:lnTo>
                  <a:pt x="943547" y="0"/>
                </a:lnTo>
                <a:lnTo>
                  <a:pt x="943547" y="917813"/>
                </a:lnTo>
                <a:lnTo>
                  <a:pt x="0" y="91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11141" y="3412038"/>
            <a:ext cx="1116808" cy="917813"/>
          </a:xfrm>
          <a:custGeom>
            <a:avLst/>
            <a:gdLst/>
            <a:ahLst/>
            <a:cxnLst/>
            <a:rect r="r" b="b" t="t" l="l"/>
            <a:pathLst>
              <a:path h="917813" w="1116808">
                <a:moveTo>
                  <a:pt x="0" y="0"/>
                </a:moveTo>
                <a:lnTo>
                  <a:pt x="1116809" y="0"/>
                </a:lnTo>
                <a:lnTo>
                  <a:pt x="1116809" y="917813"/>
                </a:lnTo>
                <a:lnTo>
                  <a:pt x="0" y="917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056075" y="3390503"/>
            <a:ext cx="1311274" cy="939349"/>
          </a:xfrm>
          <a:custGeom>
            <a:avLst/>
            <a:gdLst/>
            <a:ahLst/>
            <a:cxnLst/>
            <a:rect r="r" b="b" t="t" l="l"/>
            <a:pathLst>
              <a:path h="939349" w="1311274">
                <a:moveTo>
                  <a:pt x="0" y="0"/>
                </a:moveTo>
                <a:lnTo>
                  <a:pt x="1311273" y="0"/>
                </a:lnTo>
                <a:lnTo>
                  <a:pt x="1311273" y="939348"/>
                </a:lnTo>
                <a:lnTo>
                  <a:pt x="0" y="9393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359934" y="6924005"/>
            <a:ext cx="817973" cy="831580"/>
          </a:xfrm>
          <a:custGeom>
            <a:avLst/>
            <a:gdLst/>
            <a:ahLst/>
            <a:cxnLst/>
            <a:rect r="r" b="b" t="t" l="l"/>
            <a:pathLst>
              <a:path h="831580" w="817973">
                <a:moveTo>
                  <a:pt x="0" y="0"/>
                </a:moveTo>
                <a:lnTo>
                  <a:pt x="817972" y="0"/>
                </a:lnTo>
                <a:lnTo>
                  <a:pt x="817972" y="831580"/>
                </a:lnTo>
                <a:lnTo>
                  <a:pt x="0" y="831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517541" y="3309974"/>
            <a:ext cx="1034259" cy="1067247"/>
          </a:xfrm>
          <a:custGeom>
            <a:avLst/>
            <a:gdLst/>
            <a:ahLst/>
            <a:cxnLst/>
            <a:rect r="r" b="b" t="t" l="l"/>
            <a:pathLst>
              <a:path h="1067247" w="1034259">
                <a:moveTo>
                  <a:pt x="0" y="0"/>
                </a:moveTo>
                <a:lnTo>
                  <a:pt x="1034259" y="0"/>
                </a:lnTo>
                <a:lnTo>
                  <a:pt x="1034259" y="1067247"/>
                </a:lnTo>
                <a:lnTo>
                  <a:pt x="0" y="1067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489962" y="5215421"/>
            <a:ext cx="1089416" cy="976513"/>
          </a:xfrm>
          <a:custGeom>
            <a:avLst/>
            <a:gdLst/>
            <a:ahLst/>
            <a:cxnLst/>
            <a:rect r="r" b="b" t="t" l="l"/>
            <a:pathLst>
              <a:path h="976513" w="1089416">
                <a:moveTo>
                  <a:pt x="0" y="0"/>
                </a:moveTo>
                <a:lnTo>
                  <a:pt x="1089416" y="0"/>
                </a:lnTo>
                <a:lnTo>
                  <a:pt x="1089416" y="976514"/>
                </a:lnTo>
                <a:lnTo>
                  <a:pt x="0" y="976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450449" y="6852737"/>
            <a:ext cx="886413" cy="881578"/>
          </a:xfrm>
          <a:custGeom>
            <a:avLst/>
            <a:gdLst/>
            <a:ahLst/>
            <a:cxnLst/>
            <a:rect r="r" b="b" t="t" l="l"/>
            <a:pathLst>
              <a:path h="881578" w="886413">
                <a:moveTo>
                  <a:pt x="0" y="0"/>
                </a:moveTo>
                <a:lnTo>
                  <a:pt x="886413" y="0"/>
                </a:lnTo>
                <a:lnTo>
                  <a:pt x="886413" y="881578"/>
                </a:lnTo>
                <a:lnTo>
                  <a:pt x="0" y="8815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335479" y="5035790"/>
            <a:ext cx="802819" cy="941472"/>
          </a:xfrm>
          <a:custGeom>
            <a:avLst/>
            <a:gdLst/>
            <a:ahLst/>
            <a:cxnLst/>
            <a:rect r="r" b="b" t="t" l="l"/>
            <a:pathLst>
              <a:path h="941472" w="802819">
                <a:moveTo>
                  <a:pt x="0" y="0"/>
                </a:moveTo>
                <a:lnTo>
                  <a:pt x="802819" y="0"/>
                </a:lnTo>
                <a:lnTo>
                  <a:pt x="802819" y="941472"/>
                </a:lnTo>
                <a:lnTo>
                  <a:pt x="0" y="9414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67339" y="5087978"/>
            <a:ext cx="897758" cy="905994"/>
          </a:xfrm>
          <a:custGeom>
            <a:avLst/>
            <a:gdLst/>
            <a:ahLst/>
            <a:cxnLst/>
            <a:rect r="r" b="b" t="t" l="l"/>
            <a:pathLst>
              <a:path h="905994" w="897758">
                <a:moveTo>
                  <a:pt x="0" y="0"/>
                </a:moveTo>
                <a:lnTo>
                  <a:pt x="897758" y="0"/>
                </a:lnTo>
                <a:lnTo>
                  <a:pt x="897758" y="905995"/>
                </a:lnTo>
                <a:lnTo>
                  <a:pt x="0" y="9059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1491004" y="5121365"/>
            <a:ext cx="1100569" cy="876453"/>
          </a:xfrm>
          <a:custGeom>
            <a:avLst/>
            <a:gdLst/>
            <a:ahLst/>
            <a:cxnLst/>
            <a:rect r="r" b="b" t="t" l="l"/>
            <a:pathLst>
              <a:path h="876453" w="1100569">
                <a:moveTo>
                  <a:pt x="0" y="0"/>
                </a:moveTo>
                <a:lnTo>
                  <a:pt x="1100569" y="0"/>
                </a:lnTo>
                <a:lnTo>
                  <a:pt x="1100569" y="876453"/>
                </a:lnTo>
                <a:lnTo>
                  <a:pt x="0" y="8764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974832" y="5098425"/>
            <a:ext cx="1039484" cy="878837"/>
          </a:xfrm>
          <a:custGeom>
            <a:avLst/>
            <a:gdLst/>
            <a:ahLst/>
            <a:cxnLst/>
            <a:rect r="r" b="b" t="t" l="l"/>
            <a:pathLst>
              <a:path h="878837" w="1039484">
                <a:moveTo>
                  <a:pt x="0" y="0"/>
                </a:moveTo>
                <a:lnTo>
                  <a:pt x="1039484" y="0"/>
                </a:lnTo>
                <a:lnTo>
                  <a:pt x="1039484" y="878837"/>
                </a:lnTo>
                <a:lnTo>
                  <a:pt x="0" y="87883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697812" y="7026144"/>
            <a:ext cx="535826" cy="769463"/>
          </a:xfrm>
          <a:custGeom>
            <a:avLst/>
            <a:gdLst/>
            <a:ahLst/>
            <a:cxnLst/>
            <a:rect r="r" b="b" t="t" l="l"/>
            <a:pathLst>
              <a:path h="769463" w="535826">
                <a:moveTo>
                  <a:pt x="0" y="0"/>
                </a:moveTo>
                <a:lnTo>
                  <a:pt x="535826" y="0"/>
                </a:lnTo>
                <a:lnTo>
                  <a:pt x="535826" y="769464"/>
                </a:lnTo>
                <a:lnTo>
                  <a:pt x="0" y="76946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034186" y="5143613"/>
            <a:ext cx="797624" cy="794724"/>
          </a:xfrm>
          <a:custGeom>
            <a:avLst/>
            <a:gdLst/>
            <a:ahLst/>
            <a:cxnLst/>
            <a:rect r="r" b="b" t="t" l="l"/>
            <a:pathLst>
              <a:path h="794724" w="797624">
                <a:moveTo>
                  <a:pt x="0" y="0"/>
                </a:moveTo>
                <a:lnTo>
                  <a:pt x="797624" y="0"/>
                </a:lnTo>
                <a:lnTo>
                  <a:pt x="797624" y="794724"/>
                </a:lnTo>
                <a:lnTo>
                  <a:pt x="0" y="79472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181545" y="6999723"/>
            <a:ext cx="858748" cy="743208"/>
          </a:xfrm>
          <a:custGeom>
            <a:avLst/>
            <a:gdLst/>
            <a:ahLst/>
            <a:cxnLst/>
            <a:rect r="r" b="b" t="t" l="l"/>
            <a:pathLst>
              <a:path h="743208" w="858748">
                <a:moveTo>
                  <a:pt x="0" y="0"/>
                </a:moveTo>
                <a:lnTo>
                  <a:pt x="858749" y="0"/>
                </a:lnTo>
                <a:lnTo>
                  <a:pt x="858749" y="743208"/>
                </a:lnTo>
                <a:lnTo>
                  <a:pt x="0" y="74320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767339" y="7066167"/>
            <a:ext cx="716787" cy="689418"/>
          </a:xfrm>
          <a:custGeom>
            <a:avLst/>
            <a:gdLst/>
            <a:ahLst/>
            <a:cxnLst/>
            <a:rect r="r" b="b" t="t" l="l"/>
            <a:pathLst>
              <a:path h="689418" w="716787">
                <a:moveTo>
                  <a:pt x="0" y="0"/>
                </a:moveTo>
                <a:lnTo>
                  <a:pt x="716786" y="0"/>
                </a:lnTo>
                <a:lnTo>
                  <a:pt x="716786" y="689418"/>
                </a:lnTo>
                <a:lnTo>
                  <a:pt x="0" y="68941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5455387" y="7026144"/>
            <a:ext cx="563003" cy="716787"/>
          </a:xfrm>
          <a:custGeom>
            <a:avLst/>
            <a:gdLst/>
            <a:ahLst/>
            <a:cxnLst/>
            <a:rect r="r" b="b" t="t" l="l"/>
            <a:pathLst>
              <a:path h="716787" w="563003">
                <a:moveTo>
                  <a:pt x="0" y="0"/>
                </a:moveTo>
                <a:lnTo>
                  <a:pt x="563003" y="0"/>
                </a:lnTo>
                <a:lnTo>
                  <a:pt x="563003" y="716787"/>
                </a:lnTo>
                <a:lnTo>
                  <a:pt x="0" y="71678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104082" y="6999723"/>
            <a:ext cx="974983" cy="709212"/>
          </a:xfrm>
          <a:custGeom>
            <a:avLst/>
            <a:gdLst/>
            <a:ahLst/>
            <a:cxnLst/>
            <a:rect r="r" b="b" t="t" l="l"/>
            <a:pathLst>
              <a:path h="709212" w="974983">
                <a:moveTo>
                  <a:pt x="0" y="0"/>
                </a:moveTo>
                <a:lnTo>
                  <a:pt x="974982" y="0"/>
                </a:lnTo>
                <a:lnTo>
                  <a:pt x="974982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746437" y="6935000"/>
            <a:ext cx="904007" cy="924171"/>
          </a:xfrm>
          <a:custGeom>
            <a:avLst/>
            <a:gdLst/>
            <a:ahLst/>
            <a:cxnLst/>
            <a:rect r="r" b="b" t="t" l="l"/>
            <a:pathLst>
              <a:path h="924171" w="904007">
                <a:moveTo>
                  <a:pt x="0" y="0"/>
                </a:moveTo>
                <a:lnTo>
                  <a:pt x="904007" y="0"/>
                </a:lnTo>
                <a:lnTo>
                  <a:pt x="904007" y="924171"/>
                </a:lnTo>
                <a:lnTo>
                  <a:pt x="0" y="92417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8293747" y="5121365"/>
            <a:ext cx="1111789" cy="897517"/>
          </a:xfrm>
          <a:custGeom>
            <a:avLst/>
            <a:gdLst/>
            <a:ahLst/>
            <a:cxnLst/>
            <a:rect r="r" b="b" t="t" l="l"/>
            <a:pathLst>
              <a:path h="897517" w="1111789">
                <a:moveTo>
                  <a:pt x="0" y="0"/>
                </a:moveTo>
                <a:lnTo>
                  <a:pt x="1111789" y="0"/>
                </a:lnTo>
                <a:lnTo>
                  <a:pt x="1111789" y="897516"/>
                </a:lnTo>
                <a:lnTo>
                  <a:pt x="0" y="89751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1598423" y="3451014"/>
            <a:ext cx="1039484" cy="878837"/>
          </a:xfrm>
          <a:custGeom>
            <a:avLst/>
            <a:gdLst/>
            <a:ahLst/>
            <a:cxnLst/>
            <a:rect r="r" b="b" t="t" l="l"/>
            <a:pathLst>
              <a:path h="878837" w="1039484">
                <a:moveTo>
                  <a:pt x="0" y="0"/>
                </a:moveTo>
                <a:lnTo>
                  <a:pt x="1039485" y="0"/>
                </a:lnTo>
                <a:lnTo>
                  <a:pt x="1039485" y="878837"/>
                </a:lnTo>
                <a:lnTo>
                  <a:pt x="0" y="87883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3158029" y="3309974"/>
            <a:ext cx="1019877" cy="1019877"/>
          </a:xfrm>
          <a:custGeom>
            <a:avLst/>
            <a:gdLst/>
            <a:ahLst/>
            <a:cxnLst/>
            <a:rect r="r" b="b" t="t" l="l"/>
            <a:pathLst>
              <a:path h="1019877" w="1019877">
                <a:moveTo>
                  <a:pt x="0" y="0"/>
                </a:moveTo>
                <a:lnTo>
                  <a:pt x="1019877" y="0"/>
                </a:lnTo>
                <a:lnTo>
                  <a:pt x="1019877" y="1019877"/>
                </a:lnTo>
                <a:lnTo>
                  <a:pt x="0" y="1019877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4395316" y="5122160"/>
            <a:ext cx="943546" cy="917813"/>
          </a:xfrm>
          <a:custGeom>
            <a:avLst/>
            <a:gdLst/>
            <a:ahLst/>
            <a:cxnLst/>
            <a:rect r="r" b="b" t="t" l="l"/>
            <a:pathLst>
              <a:path h="917813" w="943546">
                <a:moveTo>
                  <a:pt x="0" y="0"/>
                </a:moveTo>
                <a:lnTo>
                  <a:pt x="943547" y="0"/>
                </a:lnTo>
                <a:lnTo>
                  <a:pt x="943547" y="917813"/>
                </a:lnTo>
                <a:lnTo>
                  <a:pt x="0" y="91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4726907" y="6852737"/>
            <a:ext cx="564008" cy="942870"/>
          </a:xfrm>
          <a:custGeom>
            <a:avLst/>
            <a:gdLst/>
            <a:ahLst/>
            <a:cxnLst/>
            <a:rect r="r" b="b" t="t" l="l"/>
            <a:pathLst>
              <a:path h="942870" w="564008">
                <a:moveTo>
                  <a:pt x="0" y="0"/>
                </a:moveTo>
                <a:lnTo>
                  <a:pt x="564008" y="0"/>
                </a:lnTo>
                <a:lnTo>
                  <a:pt x="564008" y="942871"/>
                </a:lnTo>
                <a:lnTo>
                  <a:pt x="0" y="942871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4513579" y="3398128"/>
            <a:ext cx="990664" cy="945634"/>
          </a:xfrm>
          <a:custGeom>
            <a:avLst/>
            <a:gdLst/>
            <a:ahLst/>
            <a:cxnLst/>
            <a:rect r="r" b="b" t="t" l="l"/>
            <a:pathLst>
              <a:path h="945634" w="990664">
                <a:moveTo>
                  <a:pt x="0" y="0"/>
                </a:moveTo>
                <a:lnTo>
                  <a:pt x="990664" y="0"/>
                </a:lnTo>
                <a:lnTo>
                  <a:pt x="990664" y="945633"/>
                </a:lnTo>
                <a:lnTo>
                  <a:pt x="0" y="945633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3234760" y="1230620"/>
            <a:ext cx="11818480" cy="9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3"/>
              </a:lnSpc>
            </a:pPr>
            <a:r>
              <a:rPr lang="en-US" sz="6399" spc="-166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PÁGINA DE RECURSOS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DAG4JySufvg</dc:identifier>
  <dcterms:modified xsi:type="dcterms:W3CDTF">2011-08-01T06:04:30Z</dcterms:modified>
  <cp:revision>1</cp:revision>
  <dc:title>modelo de</dc:title>
</cp:coreProperties>
</file>